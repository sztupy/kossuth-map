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Hi, my name is Zsolt, and one of my hobbies are answering weird mapping related questions on social media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Shape 180"/>
          <p:cNvSpPr/>
          <p:nvPr>
            <p:ph type="sldImg"/>
          </p:nvPr>
        </p:nvSpPr>
        <p:spPr>
          <a:prstGeom prst="rect">
            <a:avLst/>
          </a:prstGeom>
        </p:spPr>
        <p:txBody>
          <a:bodyPr/>
          <a:lstStyle/>
          <a:p>
            <a:pPr/>
          </a:p>
        </p:txBody>
      </p:sp>
      <p:sp>
        <p:nvSpPr>
          <p:cNvPr id="181" name="Shape 181"/>
          <p:cNvSpPr/>
          <p:nvPr>
            <p:ph type="body" sz="quarter" idx="1"/>
          </p:nvPr>
        </p:nvSpPr>
        <p:spPr>
          <a:prstGeom prst="rect">
            <a:avLst/>
          </a:prstGeom>
        </p:spPr>
        <p:txBody>
          <a:bodyPr/>
          <a:lstStyle/>
          <a:p>
            <a:pPr/>
            <a:r>
              <a:t>For example if someone asks me where is the place in Hungary that is the farthest away from a Kossuth street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hape 187"/>
          <p:cNvSpPr/>
          <p:nvPr>
            <p:ph type="sldImg"/>
          </p:nvPr>
        </p:nvSpPr>
        <p:spPr>
          <a:prstGeom prst="rect">
            <a:avLst/>
          </a:prstGeom>
        </p:spPr>
        <p:txBody>
          <a:bodyPr/>
          <a:lstStyle/>
          <a:p>
            <a:pPr/>
          </a:p>
        </p:txBody>
      </p:sp>
      <p:sp>
        <p:nvSpPr>
          <p:cNvPr id="188" name="Shape 188"/>
          <p:cNvSpPr/>
          <p:nvPr>
            <p:ph type="body" sz="quarter" idx="1"/>
          </p:nvPr>
        </p:nvSpPr>
        <p:spPr>
          <a:prstGeom prst="rect">
            <a:avLst/>
          </a:prstGeom>
        </p:spPr>
        <p:txBody>
          <a:bodyPr/>
          <a:lstStyle/>
          <a:p>
            <a:pPr/>
            <a:r>
              <a:t>Lajos Kossuth was a famous Hungarian statesman, and in Hungary it is much more likely to have a “Kossuth street” in a village than a street called “High Street”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For mapping geeks, he is also the namesake of the one Iowan county in the US that takes up two squares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So back to the original question, it’s right there, in the corner. It’s 17 km away of the nearest Kossuth Street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hape 204"/>
          <p:cNvSpPr/>
          <p:nvPr>
            <p:ph type="sldImg"/>
          </p:nvPr>
        </p:nvSpPr>
        <p:spPr>
          <a:prstGeom prst="rect">
            <a:avLst/>
          </a:prstGeom>
        </p:spPr>
        <p:txBody>
          <a:bodyPr/>
          <a:lstStyle/>
          <a:p>
            <a:pPr/>
          </a:p>
        </p:txBody>
      </p:sp>
      <p:sp>
        <p:nvSpPr>
          <p:cNvPr id="205" name="Shape 205"/>
          <p:cNvSpPr/>
          <p:nvPr>
            <p:ph type="body" sz="quarter" idx="1"/>
          </p:nvPr>
        </p:nvSpPr>
        <p:spPr>
          <a:prstGeom prst="rect">
            <a:avLst/>
          </a:prstGeom>
        </p:spPr>
        <p:txBody>
          <a:bodyPr/>
          <a:lstStyle/>
          <a:p>
            <a:pPr/>
            <a:r>
              <a:t>So this was fun, but other times the questions look actually more useful, like the one here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a:r>
              <a:t>Again Context Time! The national blue trail is first way marked long-distance walking route in Europe, that is now around 2595km long with an official guidebook and certificate you can obtain when completing it. However there is no time limit and you can complete the route in small sections if you’d like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218"/>
          <p:cNvSpPr/>
          <p:nvPr>
            <p:ph type="sldImg"/>
          </p:nvPr>
        </p:nvSpPr>
        <p:spPr>
          <a:prstGeom prst="rect">
            <a:avLst/>
          </a:prstGeom>
        </p:spPr>
        <p:txBody>
          <a:bodyPr/>
          <a:lstStyle/>
          <a:p>
            <a:pPr/>
          </a:p>
        </p:txBody>
      </p:sp>
      <p:sp>
        <p:nvSpPr>
          <p:cNvPr id="219" name="Shape 219"/>
          <p:cNvSpPr/>
          <p:nvPr>
            <p:ph type="body" sz="quarter" idx="1"/>
          </p:nvPr>
        </p:nvSpPr>
        <p:spPr>
          <a:prstGeom prst="rect">
            <a:avLst/>
          </a:prstGeom>
        </p:spPr>
        <p:txBody>
          <a:bodyPr/>
          <a:lstStyle/>
          <a:p>
            <a:pPr/>
            <a:r>
              <a:t>So what data would we need? Obviously the official route, available from the official website, public transport data - OSM is unfortunately lacking here, but GTFS data is available for most of Hungary though, except for trains where the government keeps this data from the public, and finally the walking routes between bus stops and the trail, where we can actually use OpenStreetMap data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r>
              <a:t>Tool wise, we use QGis for some manual editing, Postgres’s PostGIS and pg_routing to quickly calculate routes in bulk, and OpenTripPlanner to have the GTFS data accessible through a local API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r>
              <a:t>Full details are on the project website with some nice code if you’re keen on this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Crust is that there is lots and lots of manual and semi-manual cleanup of the data, mainly to align the three different sources so they behave well with each other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Shape 240"/>
          <p:cNvSpPr/>
          <p:nvPr>
            <p:ph type="sldImg"/>
          </p:nvPr>
        </p:nvSpPr>
        <p:spPr>
          <a:prstGeom prst="rect">
            <a:avLst/>
          </a:prstGeom>
        </p:spPr>
        <p:txBody>
          <a:bodyPr/>
          <a:lstStyle/>
          <a:p>
            <a:pPr/>
          </a:p>
        </p:txBody>
      </p:sp>
      <p:sp>
        <p:nvSpPr>
          <p:cNvPr id="241" name="Shape 241"/>
          <p:cNvSpPr/>
          <p:nvPr>
            <p:ph type="body" sz="quarter" idx="1"/>
          </p:nvPr>
        </p:nvSpPr>
        <p:spPr>
          <a:prstGeom prst="rect">
            <a:avLst/>
          </a:prstGeom>
        </p:spPr>
        <p:txBody>
          <a:bodyPr/>
          <a:lstStyle/>
          <a:p>
            <a:pPr/>
            <a:r>
              <a:t>Once the data behaves it is time to actually calculate the possible routes. This is done by going through each pair of viable sections on the trail, and using OSM data (with pg_routing) to calculate the walking routes, then OpenTripPlanner to calculate the public transport data. This is done in bulk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And finally presentation. We need to have a nice website to show the results. You can find this on the website, unfortunately it’s in Hungarian only so you’ll likely need to use Google Translate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a:r>
              <a:t>Here’s an example of what the tool gives out, if you want to have a nice stroll next time you’re in Budapest.You have to stop your car at the Solymár Brick Factory, take a 28 minute public transport to Hűvösvölgy (marked in orange), then walk 14 km along the blue trail (blue obviously), and finally arriving back to your car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Shape 256"/>
          <p:cNvSpPr/>
          <p:nvPr>
            <p:ph type="sldImg"/>
          </p:nvPr>
        </p:nvSpPr>
        <p:spPr>
          <a:prstGeom prst="rect">
            <a:avLst/>
          </a:prstGeom>
        </p:spPr>
        <p:txBody>
          <a:bodyPr/>
          <a:lstStyle/>
          <a:p>
            <a:pPr/>
          </a:p>
        </p:txBody>
      </p:sp>
      <p:sp>
        <p:nvSpPr>
          <p:cNvPr id="257" name="Shape 257"/>
          <p:cNvSpPr/>
          <p:nvPr>
            <p:ph type="body" sz="quarter" idx="1"/>
          </p:nvPr>
        </p:nvSpPr>
        <p:spPr>
          <a:prstGeom prst="rect">
            <a:avLst/>
          </a:prstGeom>
        </p:spPr>
        <p:txBody>
          <a:bodyPr/>
          <a:lstStyle/>
          <a:p>
            <a:pPr/>
            <a:r>
              <a:t>I really want to do something similar for Scotland, but there’s neither a good and free database of walking routes, nor a good database for public transport publicly available.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Thanks for listening, you can find the project details as above if you’re interested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Shape 269"/>
          <p:cNvSpPr/>
          <p:nvPr>
            <p:ph type="sldImg"/>
          </p:nvPr>
        </p:nvSpPr>
        <p:spPr>
          <a:prstGeom prst="rect">
            <a:avLst/>
          </a:prstGeom>
        </p:spPr>
        <p:txBody>
          <a:bodyPr/>
          <a:lstStyle/>
          <a:p>
            <a:pPr/>
          </a:p>
        </p:txBody>
      </p:sp>
      <p:sp>
        <p:nvSpPr>
          <p:cNvPr id="270" name="Shape 270"/>
          <p:cNvSpPr/>
          <p:nvPr>
            <p:ph type="body" sz="quarter" idx="1"/>
          </p:nvPr>
        </p:nvSpPr>
        <p:spPr>
          <a:prstGeom prst="rect">
            <a:avLst/>
          </a:prstGeom>
        </p:spPr>
        <p:txBody>
          <a:bodyPr/>
          <a:lstStyle/>
          <a:p>
            <a:pPr/>
            <a:r>
              <a:t>And if you got mesmerised by the idea of finding points furthest away from something the place in Britain furthest away from the closest pub is in Sutherland, North of Scotland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Futuristic, curved, white structure"/>
          <p:cNvSpPr/>
          <p:nvPr>
            <p:ph type="pic" idx="21"/>
          </p:nvPr>
        </p:nvSpPr>
        <p:spPr>
          <a:xfrm>
            <a:off x="0" y="-5397500"/>
            <a:ext cx="27190700" cy="20393025"/>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lose-up of a curved, white, layered pattern"/>
          <p:cNvSpPr/>
          <p:nvPr>
            <p:ph type="pic" idx="21"/>
          </p:nvPr>
        </p:nvSpPr>
        <p:spPr>
          <a:xfrm>
            <a:off x="11569700" y="0"/>
            <a:ext cx="13716000" cy="137160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43" name="Slide Title"/>
          <p:cNvSpPr txBox="1"/>
          <p:nvPr>
            <p:ph type="title" hasCustomPrompt="1"/>
          </p:nvPr>
        </p:nvSpPr>
        <p:spPr>
          <a:prstGeom prst="rect">
            <a:avLst/>
          </a:prstGeom>
        </p:spPr>
        <p:txBody>
          <a:bodyPr/>
          <a:lstStyle/>
          <a:p>
            <a:pPr/>
            <a:r>
              <a:t>Slide 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Close-up of the edge of white curved stone"/>
          <p:cNvSpPr/>
          <p:nvPr>
            <p:ph type="pic" idx="21"/>
          </p:nvPr>
        </p:nvSpPr>
        <p:spPr>
          <a:xfrm>
            <a:off x="12382500" y="-1206500"/>
            <a:ext cx="12103100" cy="16140313"/>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72" name="Slide Title"/>
          <p:cNvSpPr txBox="1"/>
          <p:nvPr>
            <p:ph type="title" hasCustomPrompt="1"/>
          </p:nvPr>
        </p:nvSpPr>
        <p:spPr>
          <a:prstGeom prst="rect">
            <a:avLst/>
          </a:prstGeom>
        </p:spPr>
        <p:txBody>
          <a:bodyPr/>
          <a:lstStyle/>
          <a:p>
            <a:pPr/>
            <a:r>
              <a:t>Slide 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4"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100" name="Slide Title"/>
          <p:cNvSpPr txBox="1"/>
          <p:nvPr>
            <p:ph type="title" hasCustomPrompt="1"/>
          </p:nvPr>
        </p:nvSpPr>
        <p:spPr>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Agenda Subtitle</a:t>
            </a:r>
          </a:p>
        </p:txBody>
      </p:sp>
      <p:sp>
        <p:nvSpPr>
          <p:cNvPr id="109" name="Body Level One…"/>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Agenda Topics</a:t>
            </a:r>
          </a:p>
          <a:p>
            <a:pPr lvl="1"/>
            <a:r>
              <a:t/>
            </a:r>
          </a:p>
          <a:p>
            <a:pPr lvl="2"/>
            <a:r>
              <a:t/>
            </a:r>
          </a:p>
          <a:p>
            <a:pPr lvl="3"/>
            <a:r>
              <a:t/>
            </a:r>
          </a:p>
          <a:p>
            <a:pPr lvl="4"/>
            <a:r>
              <a:t/>
            </a:r>
          </a:p>
        </p:txBody>
      </p:sp>
      <p:sp>
        <p:nvSpPr>
          <p:cNvPr id="110" name="Agenda Title"/>
          <p:cNvSpPr txBox="1"/>
          <p:nvPr>
            <p:ph type="title" hasCustomPrompt="1"/>
          </p:nvPr>
        </p:nvSpPr>
        <p:spPr>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6" name="Body Level One…"/>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a curved, white, layered pattern"/>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Close-up of a layered pattern of grey stone"/>
          <p:cNvSpPr/>
          <p:nvPr>
            <p:ph type="pic" sz="quarter" idx="22"/>
          </p:nvPr>
        </p:nvSpPr>
        <p:spPr>
          <a:xfrm>
            <a:off x="7353300" y="3632200"/>
            <a:ext cx="9677400" cy="6451600"/>
          </a:xfrm>
          <a:prstGeom prst="rect">
            <a:avLst/>
          </a:prstGeom>
        </p:spPr>
        <p:txBody>
          <a:bodyPr lIns="91439" tIns="45719" rIns="91439" bIns="45719">
            <a:noAutofit/>
          </a:bodyPr>
          <a:lstStyle/>
          <a:p>
            <a:pPr/>
          </a:p>
        </p:txBody>
      </p:sp>
      <p:sp>
        <p:nvSpPr>
          <p:cNvPr id="146" name="Close-up of a white ribbed pattern"/>
          <p:cNvSpPr/>
          <p:nvPr>
            <p:ph type="pic" sz="quarter" idx="23"/>
          </p:nvPr>
        </p:nvSpPr>
        <p:spPr>
          <a:xfrm>
            <a:off x="14621933" y="3632200"/>
            <a:ext cx="9677401" cy="645725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Angular, futuristic, white corridor with shadow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23538179" y="12443459"/>
            <a:ext cx="408941" cy="44450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github.com/sztupy/kekkor-kereso" TargetMode="External"/><Relationship Id="rId4" Type="http://schemas.openxmlformats.org/officeDocument/2006/relationships/image" Target="../media/image10.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github.com/sztupy/kekkor-kereso"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github.com/sztupy/kekkor-kereso"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github.com/sztupy/kekkor-kereso" TargetMode="External"/><Relationship Id="rId4" Type="http://schemas.openxmlformats.org/officeDocument/2006/relationships/hyperlink" Target="https://sztupy.hu/kekkor-kereso/" TargetMode="External"/><Relationship Id="rId5" Type="http://schemas.openxmlformats.org/officeDocument/2006/relationships/image" Target="../media/image1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github.com/sztupy/kekkor-kereso/" TargetMode="External"/><Relationship Id="rId4" Type="http://schemas.openxmlformats.org/officeDocument/2006/relationships/hyperlink" Target="https://sztupy.hu/kekkor-kereso/" TargetMode="External"/><Relationship Id="rId5" Type="http://schemas.openxmlformats.org/officeDocument/2006/relationships/hyperlink" Target="https://sztupy.hu/projects" TargetMode="External"/><Relationship Id="rId6" Type="http://schemas.openxmlformats.org/officeDocument/2006/relationships/hyperlink" Target="https://tumblr.sztupy.hu/"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github.com/sztupy/kekkor-kereso/" TargetMode="External"/><Relationship Id="rId4" Type="http://schemas.openxmlformats.org/officeDocument/2006/relationships/hyperlink" Target="https://sztupy.hu/kekkor-kereso/" TargetMode="External"/><Relationship Id="rId5" Type="http://schemas.openxmlformats.org/officeDocument/2006/relationships/hyperlink" Target="https://sztupy.hu/projects" TargetMode="External"/><Relationship Id="rId6" Type="http://schemas.openxmlformats.org/officeDocument/2006/relationships/hyperlink" Target="https://tumblr.sztupy.hu/" TargetMode="External"/><Relationship Id="rId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1" name="Avocados and limes" descr="Avocados and limes"/>
          <p:cNvPicPr>
            <a:picLocks noChangeAspect="1"/>
          </p:cNvPicPr>
          <p:nvPr>
            <p:ph type="pic" idx="21"/>
          </p:nvPr>
        </p:nvPicPr>
        <p:blipFill>
          <a:blip r:embed="rId3">
            <a:extLst/>
          </a:blip>
          <a:srcRect l="0" t="26467" r="10322" b="6274"/>
          <a:stretch>
            <a:fillRect/>
          </a:stretch>
        </p:blipFill>
        <p:spPr>
          <a:xfrm>
            <a:off x="0" y="0"/>
            <a:ext cx="24384000" cy="13716000"/>
          </a:xfrm>
          <a:prstGeom prst="rect">
            <a:avLst/>
          </a:prstGeom>
        </p:spPr>
      </p:pic>
      <p:sp>
        <p:nvSpPr>
          <p:cNvPr id="172" name="Zsolt Sz Sztupak Raven 15/11/2025"/>
          <p:cNvSpPr txBox="1"/>
          <p:nvPr>
            <p:ph type="body" idx="22"/>
          </p:nvPr>
        </p:nvSpPr>
        <p:spPr>
          <a:prstGeom prst="rect">
            <a:avLst/>
          </a:prstGeom>
          <a:extLst>
            <a:ext uri="{C572A759-6A51-4108-AA02-DFA0A04FC94B}">
              <ma14:wrappingTextBoxFlag xmlns:ma14="http://schemas.microsoft.com/office/mac/drawingml/2011/main" val="1"/>
            </a:ext>
          </a:extLst>
        </p:spPr>
        <p:txBody>
          <a:bodyPr/>
          <a:lstStyle/>
          <a:p>
            <a:pPr/>
            <a:r>
              <a:t>Zsolt Sz Sztupak Raven 15/11/2025 </a:t>
            </a:r>
          </a:p>
        </p:txBody>
      </p:sp>
      <p:sp>
        <p:nvSpPr>
          <p:cNvPr id="173" name="Planning day hikes using open data"/>
          <p:cNvSpPr txBox="1"/>
          <p:nvPr>
            <p:ph type="title"/>
          </p:nvPr>
        </p:nvSpPr>
        <p:spPr>
          <a:xfrm>
            <a:off x="1206500" y="2616200"/>
            <a:ext cx="13344756" cy="4648200"/>
          </a:xfrm>
          <a:prstGeom prst="rect">
            <a:avLst/>
          </a:prstGeom>
        </p:spPr>
        <p:txBody>
          <a:bodyPr/>
          <a:lstStyle>
            <a:lvl1pPr defTabSz="330708">
              <a:defRPr spc="-111" sz="11160"/>
            </a:lvl1pPr>
          </a:lstStyle>
          <a:p>
            <a:pPr/>
            <a:r>
              <a:t>Planning day hikes using open data</a:t>
            </a:r>
          </a:p>
        </p:txBody>
      </p:sp>
      <p:pic>
        <p:nvPicPr>
          <p:cNvPr id="174" name="pasted-movie.png" descr="pasted-movie.png"/>
          <p:cNvPicPr>
            <a:picLocks noChangeAspect="1"/>
          </p:cNvPicPr>
          <p:nvPr/>
        </p:nvPicPr>
        <p:blipFill>
          <a:blip r:embed="rId4">
            <a:extLst/>
          </a:blip>
          <a:stretch>
            <a:fillRect/>
          </a:stretch>
        </p:blipFill>
        <p:spPr>
          <a:xfrm>
            <a:off x="17479882" y="1364643"/>
            <a:ext cx="6045201" cy="1040130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8" name="Screenshot 2025-11-15 at 06.02.29.png" descr="Screenshot 2025-11-15 at 06.02.29.png"/>
          <p:cNvPicPr>
            <a:picLocks noChangeAspect="1"/>
          </p:cNvPicPr>
          <p:nvPr/>
        </p:nvPicPr>
        <p:blipFill>
          <a:blip r:embed="rId3">
            <a:extLst/>
          </a:blip>
          <a:stretch>
            <a:fillRect/>
          </a:stretch>
        </p:blipFill>
        <p:spPr>
          <a:xfrm>
            <a:off x="889238" y="1036068"/>
            <a:ext cx="11596595" cy="2977505"/>
          </a:xfrm>
          <a:prstGeom prst="rect">
            <a:avLst/>
          </a:prstGeom>
          <a:ln w="12700">
            <a:miter lim="400000"/>
          </a:ln>
        </p:spPr>
      </p:pic>
      <p:sp>
        <p:nvSpPr>
          <p:cNvPr id="179" name="the irrelevant question I would try to find the answer to if I had an infinite amount of unnecessary time…"/>
          <p:cNvSpPr txBox="1"/>
          <p:nvPr/>
        </p:nvSpPr>
        <p:spPr>
          <a:xfrm>
            <a:off x="4371454" y="5444984"/>
            <a:ext cx="17359735" cy="410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4900"/>
            </a:pPr>
            <a:r>
              <a:t>the irrelevant question I would try to find the answer to</a:t>
            </a:r>
            <a:br/>
            <a:r>
              <a:t>if I had an infinite amount of unnecessary time</a:t>
            </a:r>
          </a:p>
          <a:p>
            <a:pPr>
              <a:defRPr sz="4900"/>
            </a:pPr>
            <a:r>
              <a:t>where is the place in Hungary that is the farthest away from a Kossuth street?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3" name="Close-up of the edge of white curved stone" descr="Close-up of the edge of white curved stone"/>
          <p:cNvPicPr>
            <a:picLocks noChangeAspect="1"/>
          </p:cNvPicPr>
          <p:nvPr>
            <p:ph type="pic" idx="21"/>
          </p:nvPr>
        </p:nvPicPr>
        <p:blipFill>
          <a:blip r:embed="rId3">
            <a:extLst/>
          </a:blip>
          <a:srcRect l="0" t="0" r="0" b="18617"/>
          <a:stretch>
            <a:fillRect/>
          </a:stretch>
        </p:blipFill>
        <p:spPr>
          <a:xfrm>
            <a:off x="12382500" y="0"/>
            <a:ext cx="12001500" cy="13716000"/>
          </a:xfrm>
          <a:prstGeom prst="rect">
            <a:avLst/>
          </a:prstGeom>
        </p:spPr>
      </p:pic>
      <p:sp>
        <p:nvSpPr>
          <p:cNvPr id="184" name="Lajos Kossuth"/>
          <p:cNvSpPr txBox="1"/>
          <p:nvPr>
            <p:ph type="body" idx="22"/>
          </p:nvPr>
        </p:nvSpPr>
        <p:spPr>
          <a:prstGeom prst="rect">
            <a:avLst/>
          </a:prstGeom>
          <a:extLst>
            <a:ext uri="{C572A759-6A51-4108-AA02-DFA0A04FC94B}">
              <ma14:wrappingTextBoxFlag xmlns:ma14="http://schemas.microsoft.com/office/mac/drawingml/2011/main" val="1"/>
            </a:ext>
          </a:extLst>
        </p:spPr>
        <p:txBody>
          <a:bodyPr/>
          <a:lstStyle/>
          <a:p>
            <a:pPr/>
            <a:r>
              <a:t>Lajos Kossuth</a:t>
            </a:r>
          </a:p>
        </p:txBody>
      </p:sp>
      <p:sp>
        <p:nvSpPr>
          <p:cNvPr id="185" name="Context time!"/>
          <p:cNvSpPr txBox="1"/>
          <p:nvPr>
            <p:ph type="title"/>
          </p:nvPr>
        </p:nvSpPr>
        <p:spPr>
          <a:prstGeom prst="rect">
            <a:avLst/>
          </a:prstGeom>
        </p:spPr>
        <p:txBody>
          <a:bodyPr/>
          <a:lstStyle/>
          <a:p>
            <a:pPr/>
            <a:r>
              <a:t>Context time!</a:t>
            </a:r>
          </a:p>
        </p:txBody>
      </p:sp>
      <p:sp>
        <p:nvSpPr>
          <p:cNvPr id="186" name="Lived 1802–1894…"/>
          <p:cNvSpPr txBox="1"/>
          <p:nvPr>
            <p:ph type="body" sz="half" idx="1"/>
          </p:nvPr>
        </p:nvSpPr>
        <p:spPr>
          <a:prstGeom prst="rect">
            <a:avLst/>
          </a:prstGeom>
        </p:spPr>
        <p:txBody>
          <a:bodyPr/>
          <a:lstStyle/>
          <a:p>
            <a:pPr/>
            <a:r>
              <a:t>Lived 1802–1894</a:t>
            </a:r>
          </a:p>
          <a:p>
            <a:pPr/>
            <a:r>
              <a:t>Hungarian statesman</a:t>
            </a:r>
          </a:p>
          <a:p>
            <a:pPr/>
            <a:r>
              <a:t>“Father of Hungarian Democracy”</a:t>
            </a:r>
          </a:p>
          <a:p>
            <a:pPr/>
            <a:r>
              <a:t>Almost all towns and villages will have a “Kossuth street”</a:t>
            </a:r>
          </a:p>
          <a:p>
            <a:pPr/>
            <a:r>
              <a:t>It is more likely to have than a “High Street” (Fő út)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0" name="pasted-movie.png" descr="pasted-movie.png"/>
          <p:cNvPicPr>
            <a:picLocks noChangeAspect="1"/>
          </p:cNvPicPr>
          <p:nvPr/>
        </p:nvPicPr>
        <p:blipFill>
          <a:blip r:embed="rId3">
            <a:extLst/>
          </a:blip>
          <a:stretch>
            <a:fillRect/>
          </a:stretch>
        </p:blipFill>
        <p:spPr>
          <a:xfrm>
            <a:off x="823672" y="2353115"/>
            <a:ext cx="12886642" cy="9675545"/>
          </a:xfrm>
          <a:prstGeom prst="rect">
            <a:avLst/>
          </a:prstGeom>
          <a:ln w="12700">
            <a:miter lim="400000"/>
          </a:ln>
        </p:spPr>
      </p:pic>
      <p:pic>
        <p:nvPicPr>
          <p:cNvPr id="191" name="pasted-movie.png" descr="pasted-movie.png"/>
          <p:cNvPicPr>
            <a:picLocks noChangeAspect="1"/>
          </p:cNvPicPr>
          <p:nvPr/>
        </p:nvPicPr>
        <p:blipFill>
          <a:blip r:embed="rId4">
            <a:extLst/>
          </a:blip>
          <a:srcRect l="0" t="0" r="0" b="4318"/>
          <a:stretch>
            <a:fillRect/>
          </a:stretch>
        </p:blipFill>
        <p:spPr>
          <a:xfrm>
            <a:off x="13975792" y="1165817"/>
            <a:ext cx="9850298" cy="10407842"/>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5" name="Screenshot 2025-11-15 at 06.02.29.png" descr="Screenshot 2025-11-15 at 06.02.29.png"/>
          <p:cNvPicPr>
            <a:picLocks noChangeAspect="1"/>
          </p:cNvPicPr>
          <p:nvPr/>
        </p:nvPicPr>
        <p:blipFill>
          <a:blip r:embed="rId3">
            <a:extLst/>
          </a:blip>
          <a:stretch>
            <a:fillRect/>
          </a:stretch>
        </p:blipFill>
        <p:spPr>
          <a:xfrm>
            <a:off x="889238" y="1036068"/>
            <a:ext cx="10402061" cy="2670800"/>
          </a:xfrm>
          <a:prstGeom prst="rect">
            <a:avLst/>
          </a:prstGeom>
          <a:ln w="12700">
            <a:miter lim="400000"/>
          </a:ln>
        </p:spPr>
      </p:pic>
      <p:sp>
        <p:nvSpPr>
          <p:cNvPr id="196" name="the irrelevant question I would try to find the answer to if I had an infinite amount of unnecessary time…"/>
          <p:cNvSpPr txBox="1"/>
          <p:nvPr/>
        </p:nvSpPr>
        <p:spPr>
          <a:xfrm>
            <a:off x="12025378" y="1861069"/>
            <a:ext cx="11110722" cy="2781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000"/>
            </a:pPr>
            <a:r>
              <a:t>the irrelevant question I would try to find the answer to</a:t>
            </a:r>
            <a:br/>
            <a:r>
              <a:t>if I had an infinite amount of unnecessary time</a:t>
            </a:r>
          </a:p>
          <a:p>
            <a:pPr>
              <a:defRPr sz="3000"/>
            </a:pPr>
            <a:r>
              <a:t>where is the place in Hungary that is the farthest away from a Kossuth street?</a:t>
            </a:r>
          </a:p>
        </p:txBody>
      </p:sp>
      <p:pic>
        <p:nvPicPr>
          <p:cNvPr id="197" name="pasted-movie.png" descr="pasted-movie.png"/>
          <p:cNvPicPr>
            <a:picLocks noChangeAspect="1"/>
          </p:cNvPicPr>
          <p:nvPr/>
        </p:nvPicPr>
        <p:blipFill>
          <a:blip r:embed="rId4">
            <a:extLst/>
          </a:blip>
          <a:srcRect l="0" t="0" r="782" b="0"/>
          <a:stretch>
            <a:fillRect/>
          </a:stretch>
        </p:blipFill>
        <p:spPr>
          <a:xfrm>
            <a:off x="5646642" y="4709522"/>
            <a:ext cx="13686643" cy="8346135"/>
          </a:xfrm>
          <a:prstGeom prst="rect">
            <a:avLst/>
          </a:prstGeom>
          <a:ln w="12700">
            <a:miter lim="400000"/>
          </a:ln>
        </p:spPr>
      </p:pic>
      <p:sp>
        <p:nvSpPr>
          <p:cNvPr id="198" name="Line"/>
          <p:cNvSpPr/>
          <p:nvPr/>
        </p:nvSpPr>
        <p:spPr>
          <a:xfrm>
            <a:off x="2347116" y="7770406"/>
            <a:ext cx="3462701" cy="1930574"/>
          </a:xfrm>
          <a:prstGeom prst="line">
            <a:avLst/>
          </a:prstGeom>
          <a:ln w="317500">
            <a:solidFill>
              <a:schemeClr val="accent1">
                <a:satOff val="-9155"/>
                <a:lumOff val="-32673"/>
              </a:schemeClr>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2" name="Screenshot 2025-11-15 at 06.18.35.png" descr="Screenshot 2025-11-15 at 06.18.35.png"/>
          <p:cNvPicPr>
            <a:picLocks noChangeAspect="1"/>
          </p:cNvPicPr>
          <p:nvPr/>
        </p:nvPicPr>
        <p:blipFill>
          <a:blip r:embed="rId3">
            <a:extLst/>
          </a:blip>
          <a:stretch>
            <a:fillRect/>
          </a:stretch>
        </p:blipFill>
        <p:spPr>
          <a:xfrm>
            <a:off x="400635" y="1054455"/>
            <a:ext cx="17453442" cy="1763773"/>
          </a:xfrm>
          <a:prstGeom prst="rect">
            <a:avLst/>
          </a:prstGeom>
          <a:ln w="12700">
            <a:miter lim="400000"/>
          </a:ln>
        </p:spPr>
      </p:pic>
      <p:sp>
        <p:nvSpPr>
          <p:cNvPr id="203" name="Does anyone have any ideas for a section of the National Blue Trail that is between 15-20 km long and can be accessed by…"/>
          <p:cNvSpPr txBox="1"/>
          <p:nvPr/>
        </p:nvSpPr>
        <p:spPr>
          <a:xfrm>
            <a:off x="4685764" y="3206750"/>
            <a:ext cx="15012471" cy="7302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5200"/>
            </a:pPr>
            <a:r>
              <a:t>Does anyone have any ideas for a section of the National Blue Trail that is between 15-20 km long and can be accessed by</a:t>
            </a:r>
          </a:p>
          <a:p>
            <a:pPr marL="594359" indent="-594359">
              <a:buSzPct val="100000"/>
              <a:buChar char="*"/>
              <a:defRPr sz="5200"/>
            </a:pPr>
            <a:r>
              <a:t>leaving the car at point A</a:t>
            </a:r>
          </a:p>
          <a:p>
            <a:pPr marL="594359" indent="-594359">
              <a:buSzPct val="100000"/>
              <a:buChar char="*"/>
              <a:defRPr sz="5200"/>
            </a:pPr>
            <a:r>
              <a:t>taking public transport to point B</a:t>
            </a:r>
          </a:p>
          <a:p>
            <a:pPr marL="594359" indent="-594359">
              <a:buSzPct val="100000"/>
              <a:buChar char="*"/>
              <a:defRPr sz="5200"/>
            </a:pPr>
            <a:r>
              <a:t>and walking back to point A to the car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National Blue Trail"/>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National Blue Trail</a:t>
            </a:r>
          </a:p>
        </p:txBody>
      </p:sp>
      <p:sp>
        <p:nvSpPr>
          <p:cNvPr id="208" name="Context time!"/>
          <p:cNvSpPr txBox="1"/>
          <p:nvPr>
            <p:ph type="title"/>
          </p:nvPr>
        </p:nvSpPr>
        <p:spPr>
          <a:prstGeom prst="rect">
            <a:avLst/>
          </a:prstGeom>
        </p:spPr>
        <p:txBody>
          <a:bodyPr/>
          <a:lstStyle/>
          <a:p>
            <a:pPr/>
            <a:r>
              <a:t>Context time!</a:t>
            </a:r>
          </a:p>
        </p:txBody>
      </p:sp>
      <p:sp>
        <p:nvSpPr>
          <p:cNvPr id="209" name="First long-distance walking route in Europe first way-marked in 1938…"/>
          <p:cNvSpPr txBox="1"/>
          <p:nvPr>
            <p:ph type="body" sz="half" idx="1"/>
          </p:nvPr>
        </p:nvSpPr>
        <p:spPr>
          <a:prstGeom prst="rect">
            <a:avLst/>
          </a:prstGeom>
        </p:spPr>
        <p:txBody>
          <a:bodyPr/>
          <a:lstStyle/>
          <a:p>
            <a:pPr marL="370331" indent="-370331" defTabSz="288036">
              <a:spcBef>
                <a:spcPts val="3800"/>
              </a:spcBef>
              <a:defRPr sz="3240"/>
            </a:pPr>
            <a:r>
              <a:t>First long-distance walking route in Europe first way-marked in 1938</a:t>
            </a:r>
          </a:p>
          <a:p>
            <a:pPr marL="370331" indent="-370331" defTabSz="288036">
              <a:spcBef>
                <a:spcPts val="3800"/>
              </a:spcBef>
              <a:defRPr sz="3240"/>
            </a:pPr>
            <a:r>
              <a:t>Initially 910 km, but later extended to all around Hungary to 2595 km</a:t>
            </a:r>
          </a:p>
          <a:p>
            <a:pPr marL="370331" indent="-370331" defTabSz="288036">
              <a:spcBef>
                <a:spcPts val="3800"/>
              </a:spcBef>
              <a:defRPr sz="3240"/>
            </a:pPr>
            <a:r>
              <a:t>It’s name comes from the blue marks along the trail showing the way</a:t>
            </a:r>
          </a:p>
          <a:p>
            <a:pPr marL="370331" indent="-370331" defTabSz="288036">
              <a:spcBef>
                <a:spcPts val="3800"/>
              </a:spcBef>
              <a:defRPr sz="3240"/>
            </a:pPr>
            <a:r>
              <a:t>Official rules one how to complete the full trail with 304 stamps you need to collect in the official guidebooks along the route</a:t>
            </a:r>
          </a:p>
          <a:p>
            <a:pPr marL="370331" indent="-370331" defTabSz="288036">
              <a:spcBef>
                <a:spcPts val="3800"/>
              </a:spcBef>
              <a:defRPr sz="3240"/>
            </a:pPr>
            <a:r>
              <a:t>There is no time limit and you can complete the whole route in small sections</a:t>
            </a:r>
          </a:p>
        </p:txBody>
      </p:sp>
      <p:pic>
        <p:nvPicPr>
          <p:cNvPr id="210" name="pasted-movie.png" descr="pasted-movie.png"/>
          <p:cNvPicPr>
            <a:picLocks noChangeAspect="1"/>
          </p:cNvPicPr>
          <p:nvPr/>
        </p:nvPicPr>
        <p:blipFill>
          <a:blip r:embed="rId3">
            <a:extLst/>
          </a:blip>
          <a:stretch>
            <a:fillRect/>
          </a:stretch>
        </p:blipFill>
        <p:spPr>
          <a:xfrm>
            <a:off x="10784445" y="297919"/>
            <a:ext cx="12663723" cy="7587547"/>
          </a:xfrm>
          <a:prstGeom prst="rect">
            <a:avLst/>
          </a:prstGeom>
          <a:ln w="12700">
            <a:miter lim="400000"/>
          </a:ln>
        </p:spPr>
      </p:pic>
      <p:pic>
        <p:nvPicPr>
          <p:cNvPr id="211" name="pasted-movie.png" descr="pasted-movie.png"/>
          <p:cNvPicPr>
            <a:picLocks noChangeAspect="1"/>
          </p:cNvPicPr>
          <p:nvPr/>
        </p:nvPicPr>
        <p:blipFill>
          <a:blip r:embed="rId4">
            <a:extLst/>
          </a:blip>
          <a:stretch>
            <a:fillRect/>
          </a:stretch>
        </p:blipFill>
        <p:spPr>
          <a:xfrm>
            <a:off x="15923069" y="7746783"/>
            <a:ext cx="7646277" cy="500073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Data"/>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Data</a:t>
            </a:r>
          </a:p>
        </p:txBody>
      </p:sp>
      <p:sp>
        <p:nvSpPr>
          <p:cNvPr id="216" name="What do we need?"/>
          <p:cNvSpPr txBox="1"/>
          <p:nvPr>
            <p:ph type="title"/>
          </p:nvPr>
        </p:nvSpPr>
        <p:spPr>
          <a:prstGeom prst="rect">
            <a:avLst/>
          </a:prstGeom>
        </p:spPr>
        <p:txBody>
          <a:bodyPr/>
          <a:lstStyle/>
          <a:p>
            <a:pPr/>
            <a:r>
              <a:t>What do we need?</a:t>
            </a:r>
          </a:p>
        </p:txBody>
      </p:sp>
      <p:sp>
        <p:nvSpPr>
          <p:cNvPr id="217" name="The official route, including the list of sections…"/>
          <p:cNvSpPr txBox="1"/>
          <p:nvPr>
            <p:ph type="body" idx="1"/>
          </p:nvPr>
        </p:nvSpPr>
        <p:spPr>
          <a:xfrm>
            <a:off x="1206500" y="3264254"/>
            <a:ext cx="21971000" cy="9240262"/>
          </a:xfrm>
          <a:prstGeom prst="rect">
            <a:avLst/>
          </a:prstGeom>
        </p:spPr>
        <p:txBody>
          <a:bodyPr/>
          <a:lstStyle/>
          <a:p>
            <a:pPr marL="324611" indent="-324611" defTabSz="252475">
              <a:spcBef>
                <a:spcPts val="3300"/>
              </a:spcBef>
              <a:defRPr sz="2840"/>
            </a:pPr>
            <a:r>
              <a:t>The official route, including the list of sections</a:t>
            </a:r>
          </a:p>
          <a:p>
            <a:pPr lvl="1" marL="649223" indent="-324611" defTabSz="252475">
              <a:spcBef>
                <a:spcPts val="3300"/>
              </a:spcBef>
              <a:defRPr sz="2840"/>
            </a:pPr>
            <a:r>
              <a:t>Publicly available from the National Blue Trail Website</a:t>
            </a:r>
            <a:br/>
            <a:r>
              <a:t>https://www.kektura.hu</a:t>
            </a:r>
          </a:p>
          <a:p>
            <a:pPr marL="324611" indent="-324611" defTabSz="252475">
              <a:spcBef>
                <a:spcPts val="3300"/>
              </a:spcBef>
              <a:defRPr sz="2840"/>
            </a:pPr>
            <a:r>
              <a:t>Public transport data</a:t>
            </a:r>
          </a:p>
          <a:p>
            <a:pPr lvl="1" marL="649223" indent="-324611" defTabSz="252475">
              <a:spcBef>
                <a:spcPts val="3300"/>
              </a:spcBef>
              <a:defRPr strike="sngStrike" sz="2840"/>
            </a:pPr>
            <a:r>
              <a:t>OpenStreetMap</a:t>
            </a:r>
          </a:p>
          <a:p>
            <a:pPr lvl="1" marL="649223" indent="-324611" defTabSz="252475">
              <a:spcBef>
                <a:spcPts val="3300"/>
              </a:spcBef>
              <a:defRPr sz="2840"/>
            </a:pPr>
            <a:r>
              <a:t>GTFS data (General Transit Feed Specification)</a:t>
            </a:r>
          </a:p>
          <a:p>
            <a:pPr lvl="2" marL="973836" indent="-324611" defTabSz="252475">
              <a:spcBef>
                <a:spcPts val="3300"/>
              </a:spcBef>
              <a:defRPr sz="2840"/>
            </a:pPr>
            <a:r>
              <a:t>Long-distance buses (Volánbusz)</a:t>
            </a:r>
          </a:p>
          <a:p>
            <a:pPr lvl="2" marL="973836" indent="-324611" defTabSz="252475">
              <a:spcBef>
                <a:spcPts val="3300"/>
              </a:spcBef>
              <a:defRPr sz="2840"/>
            </a:pPr>
            <a:r>
              <a:t>Budapest (BKK)</a:t>
            </a:r>
          </a:p>
          <a:p>
            <a:pPr lvl="2" marL="973836" indent="-324611" defTabSz="252475">
              <a:spcBef>
                <a:spcPts val="3300"/>
              </a:spcBef>
              <a:defRPr strike="sngStrike" sz="2840"/>
            </a:pPr>
            <a:r>
              <a:t>Trains (MÁV)</a:t>
            </a:r>
          </a:p>
          <a:p>
            <a:pPr marL="324611" indent="-324611" defTabSz="252475">
              <a:spcBef>
                <a:spcPts val="3300"/>
              </a:spcBef>
              <a:defRPr sz="2840"/>
            </a:pPr>
            <a:r>
              <a:t>Walking routes between bus stops and the trail itself</a:t>
            </a:r>
          </a:p>
          <a:p>
            <a:pPr lvl="1" marL="649223" indent="-324611" defTabSz="252475">
              <a:spcBef>
                <a:spcPts val="3300"/>
              </a:spcBef>
              <a:defRPr sz="2840"/>
            </a:pPr>
            <a:r>
              <a:t>OpenStreetMap</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7">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1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21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21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21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21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217">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1" fill="hold">
                                  <p:stCondLst>
                                    <p:cond delay="0"/>
                                  </p:stCondLst>
                                  <p:iterate type="el" backwards="0">
                                    <p:tmAbs val="0"/>
                                  </p:iterate>
                                  <p:childTnLst>
                                    <p:set>
                                      <p:cBhvr>
                                        <p:cTn id="32" fill="hold"/>
                                        <p:tgtEl>
                                          <p:spTgt spid="217">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0" presetID="1" grpId="1" fill="hold">
                                  <p:stCondLst>
                                    <p:cond delay="0"/>
                                  </p:stCondLst>
                                  <p:iterate type="el" backwards="0">
                                    <p:tmAbs val="0"/>
                                  </p:iterate>
                                  <p:childTnLst>
                                    <p:set>
                                      <p:cBhvr>
                                        <p:cTn id="36" fill="hold"/>
                                        <p:tgtEl>
                                          <p:spTgt spid="217">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0" presetID="1" grpId="1" fill="hold">
                                  <p:stCondLst>
                                    <p:cond delay="0"/>
                                  </p:stCondLst>
                                  <p:iterate type="el" backwards="0">
                                    <p:tmAbs val="0"/>
                                  </p:iterate>
                                  <p:childTnLst>
                                    <p:set>
                                      <p:cBhvr>
                                        <p:cTn id="40" fill="hold"/>
                                        <p:tgtEl>
                                          <p:spTgt spid="217">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Class="entr" nodeType="clickEffect" presetSubtype="0" presetID="1" grpId="1" fill="hold">
                                  <p:stCondLst>
                                    <p:cond delay="0"/>
                                  </p:stCondLst>
                                  <p:iterate type="el" backwards="0">
                                    <p:tmAbs val="0"/>
                                  </p:iterate>
                                  <p:childTnLst>
                                    <p:set>
                                      <p:cBhvr>
                                        <p:cTn id="44" fill="hold"/>
                                        <p:tgtEl>
                                          <p:spTgt spid="217">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17"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Tool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Tools</a:t>
            </a:r>
          </a:p>
        </p:txBody>
      </p:sp>
      <p:sp>
        <p:nvSpPr>
          <p:cNvPr id="222" name="What do we need?"/>
          <p:cNvSpPr txBox="1"/>
          <p:nvPr>
            <p:ph type="title"/>
          </p:nvPr>
        </p:nvSpPr>
        <p:spPr>
          <a:prstGeom prst="rect">
            <a:avLst/>
          </a:prstGeom>
        </p:spPr>
        <p:txBody>
          <a:bodyPr/>
          <a:lstStyle/>
          <a:p>
            <a:pPr/>
            <a:r>
              <a:t>What do we need?</a:t>
            </a:r>
          </a:p>
        </p:txBody>
      </p:sp>
      <p:sp>
        <p:nvSpPr>
          <p:cNvPr id="223" name="QGis…"/>
          <p:cNvSpPr txBox="1"/>
          <p:nvPr>
            <p:ph type="body" idx="1"/>
          </p:nvPr>
        </p:nvSpPr>
        <p:spPr>
          <a:prstGeom prst="rect">
            <a:avLst/>
          </a:prstGeom>
        </p:spPr>
        <p:txBody>
          <a:bodyPr/>
          <a:lstStyle/>
          <a:p>
            <a:pPr/>
            <a:r>
              <a:t>QGis</a:t>
            </a:r>
          </a:p>
          <a:p>
            <a:pPr lvl="1"/>
            <a:r>
              <a:t>Manual editing of the input data</a:t>
            </a:r>
          </a:p>
          <a:p>
            <a:pPr/>
            <a:r>
              <a:t>Postgres, with PostGIS and pg_routing</a:t>
            </a:r>
          </a:p>
          <a:p>
            <a:pPr lvl="1"/>
            <a:r>
              <a:t>Bulk route calculations</a:t>
            </a:r>
          </a:p>
          <a:p>
            <a:pPr/>
            <a:r>
              <a:t>OpenTripPlanner</a:t>
            </a:r>
          </a:p>
          <a:p>
            <a:pPr lvl="1"/>
            <a:r>
              <a:t>Local system to obtain public transport connections in bulk</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23">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2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2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2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22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22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223">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23"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How to do this?"/>
          <p:cNvSpPr txBox="1"/>
          <p:nvPr>
            <p:ph type="title"/>
          </p:nvPr>
        </p:nvSpPr>
        <p:spPr>
          <a:prstGeom prst="rect">
            <a:avLst/>
          </a:prstGeom>
        </p:spPr>
        <p:txBody>
          <a:bodyPr/>
          <a:lstStyle/>
          <a:p>
            <a:pPr/>
            <a:r>
              <a:t>How to do this?</a:t>
            </a:r>
          </a:p>
        </p:txBody>
      </p:sp>
      <p:sp>
        <p:nvSpPr>
          <p:cNvPr id="228" name="Full details on the project website: https://github.com/sztupy/kekkor-kereso"/>
          <p:cNvSpPr txBox="1"/>
          <p:nvPr>
            <p:ph type="body" idx="1"/>
          </p:nvPr>
        </p:nvSpPr>
        <p:spPr>
          <a:xfrm>
            <a:off x="1206500" y="2471479"/>
            <a:ext cx="21971000" cy="10033037"/>
          </a:xfrm>
          <a:prstGeom prst="rect">
            <a:avLst/>
          </a:prstGeom>
        </p:spPr>
        <p:txBody>
          <a:bodyPr/>
          <a:lstStyle/>
          <a:p>
            <a:pPr/>
            <a:r>
              <a:t>Full details on the project website: </a:t>
            </a:r>
            <a:r>
              <a:rPr u="sng">
                <a:hlinkClick r:id="rId3" invalidUrl="" action="" tgtFrame="" tooltip="" history="1" highlightClick="0" endSnd="0"/>
              </a:rPr>
              <a:t>https://github.com/sztupy/kekkor-kereso</a:t>
            </a:r>
          </a:p>
        </p:txBody>
      </p:sp>
      <p:pic>
        <p:nvPicPr>
          <p:cNvPr id="229" name="Screenshot 2025-11-15 at 06.50.39.png" descr="Screenshot 2025-11-15 at 06.50.39.png"/>
          <p:cNvPicPr>
            <a:picLocks noChangeAspect="1"/>
          </p:cNvPicPr>
          <p:nvPr/>
        </p:nvPicPr>
        <p:blipFill>
          <a:blip r:embed="rId4">
            <a:extLst/>
          </a:blip>
          <a:stretch>
            <a:fillRect/>
          </a:stretch>
        </p:blipFill>
        <p:spPr>
          <a:xfrm>
            <a:off x="5748354" y="3830526"/>
            <a:ext cx="17139587" cy="909196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How to do this?"/>
          <p:cNvSpPr txBox="1"/>
          <p:nvPr>
            <p:ph type="title"/>
          </p:nvPr>
        </p:nvSpPr>
        <p:spPr>
          <a:prstGeom prst="rect">
            <a:avLst/>
          </a:prstGeom>
        </p:spPr>
        <p:txBody>
          <a:bodyPr/>
          <a:lstStyle/>
          <a:p>
            <a:pPr/>
            <a:r>
              <a:t>How to do this?</a:t>
            </a:r>
          </a:p>
        </p:txBody>
      </p:sp>
      <p:sp>
        <p:nvSpPr>
          <p:cNvPr id="234" name="Full details on the project website: https://github.com/sztupy/kekkor-kereso…"/>
          <p:cNvSpPr txBox="1"/>
          <p:nvPr>
            <p:ph type="body" idx="1"/>
          </p:nvPr>
        </p:nvSpPr>
        <p:spPr>
          <a:xfrm>
            <a:off x="1206500" y="2471479"/>
            <a:ext cx="21971000" cy="10033037"/>
          </a:xfrm>
          <a:prstGeom prst="rect">
            <a:avLst/>
          </a:prstGeom>
        </p:spPr>
        <p:txBody>
          <a:bodyPr/>
          <a:lstStyle/>
          <a:p>
            <a:pPr/>
            <a:r>
              <a:t>Full details on the project website: </a:t>
            </a:r>
            <a:r>
              <a:rPr u="sng">
                <a:hlinkClick r:id="rId3" invalidUrl="" action="" tgtFrame="" tooltip="" history="1" highlightClick="0" endSnd="0"/>
              </a:rPr>
              <a:t>https://github.com/sztupy/kekkor-kereso</a:t>
            </a:r>
          </a:p>
          <a:p>
            <a:pPr/>
            <a:r>
              <a:t>First is lots of manual and semi-manual cleanup of the data</a:t>
            </a:r>
          </a:p>
          <a:p>
            <a:pPr lvl="1"/>
            <a:r>
              <a:t>Mostly making sure the three sources of data align properly</a:t>
            </a:r>
          </a:p>
          <a:p>
            <a:pPr lvl="2"/>
            <a:r>
              <a:t>National Blue Trail</a:t>
            </a:r>
          </a:p>
          <a:p>
            <a:pPr lvl="2"/>
            <a:r>
              <a:t>OpenStreetMap</a:t>
            </a:r>
          </a:p>
          <a:p>
            <a:pPr lvl="2"/>
            <a:r>
              <a:t>Public transport data from GTFS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How to do this?"/>
          <p:cNvSpPr txBox="1"/>
          <p:nvPr>
            <p:ph type="title"/>
          </p:nvPr>
        </p:nvSpPr>
        <p:spPr>
          <a:prstGeom prst="rect">
            <a:avLst/>
          </a:prstGeom>
        </p:spPr>
        <p:txBody>
          <a:bodyPr/>
          <a:lstStyle/>
          <a:p>
            <a:pPr/>
            <a:r>
              <a:t>How to do this?</a:t>
            </a:r>
          </a:p>
        </p:txBody>
      </p:sp>
      <p:sp>
        <p:nvSpPr>
          <p:cNvPr id="239" name="Full details on the project website: https://github.com/sztupy/kekkor-kereso…"/>
          <p:cNvSpPr txBox="1"/>
          <p:nvPr>
            <p:ph type="body" idx="1"/>
          </p:nvPr>
        </p:nvSpPr>
        <p:spPr>
          <a:xfrm>
            <a:off x="1206500" y="2471479"/>
            <a:ext cx="21971000" cy="10033037"/>
          </a:xfrm>
          <a:prstGeom prst="rect">
            <a:avLst/>
          </a:prstGeom>
        </p:spPr>
        <p:txBody>
          <a:bodyPr/>
          <a:lstStyle/>
          <a:p>
            <a:pPr/>
            <a:r>
              <a:t>Full details on the project website: </a:t>
            </a:r>
            <a:r>
              <a:rPr u="sng">
                <a:hlinkClick r:id="rId3" invalidUrl="" action="" tgtFrame="" tooltip="" history="1" highlightClick="0" endSnd="0"/>
              </a:rPr>
              <a:t>https://github.com/sztupy/kekkor-kereso</a:t>
            </a:r>
          </a:p>
          <a:p>
            <a:pPr/>
            <a:r>
              <a:t>Next is running a custom script that would go through each viable section(s) of the trail</a:t>
            </a:r>
          </a:p>
          <a:p>
            <a:pPr lvl="1"/>
            <a:r>
              <a:t>And first find the nearest bus stops</a:t>
            </a:r>
          </a:p>
          <a:p>
            <a:pPr lvl="1"/>
            <a:r>
              <a:t>Use OSM data to calculate the walking route between the section’s end points and the bus stops</a:t>
            </a:r>
          </a:p>
          <a:p>
            <a:pPr lvl="1"/>
            <a:r>
              <a:t>And then using OpenTripPlanner to calculate if there’s a viable bus route between the two bus stops</a:t>
            </a:r>
          </a:p>
          <a:p>
            <a:pPr/>
            <a:r>
              <a:t>This is done in bulk, the whole calculation took around 10 hours to finish</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How to do this?"/>
          <p:cNvSpPr txBox="1"/>
          <p:nvPr>
            <p:ph type="title"/>
          </p:nvPr>
        </p:nvSpPr>
        <p:spPr>
          <a:prstGeom prst="rect">
            <a:avLst/>
          </a:prstGeom>
        </p:spPr>
        <p:txBody>
          <a:bodyPr/>
          <a:lstStyle/>
          <a:p>
            <a:pPr/>
            <a:r>
              <a:t>How to do this?</a:t>
            </a:r>
          </a:p>
        </p:txBody>
      </p:sp>
      <p:sp>
        <p:nvSpPr>
          <p:cNvPr id="244" name="Full details on the project website: https://github.com/sztupy/kekkor-kereso…"/>
          <p:cNvSpPr txBox="1"/>
          <p:nvPr>
            <p:ph type="body" idx="1"/>
          </p:nvPr>
        </p:nvSpPr>
        <p:spPr>
          <a:xfrm>
            <a:off x="1206500" y="2471479"/>
            <a:ext cx="21971000" cy="10033037"/>
          </a:xfrm>
          <a:prstGeom prst="rect">
            <a:avLst/>
          </a:prstGeom>
        </p:spPr>
        <p:txBody>
          <a:bodyPr/>
          <a:lstStyle/>
          <a:p>
            <a:pPr/>
            <a:r>
              <a:t>Full details on the project website: </a:t>
            </a:r>
            <a:r>
              <a:rPr u="sng">
                <a:hlinkClick r:id="rId3" invalidUrl="" action="" tgtFrame="" tooltip="" history="1" highlightClick="0" endSnd="0"/>
              </a:rPr>
              <a:t>https://github.com/sztupy/kekkor-kereso</a:t>
            </a:r>
          </a:p>
          <a:p>
            <a:pPr/>
            <a:r>
              <a:t>Presentation. We need to have a nice website to show the results, and allow people to play around with the data</a:t>
            </a:r>
          </a:p>
          <a:p>
            <a:pPr/>
            <a:r>
              <a:rPr u="sng">
                <a:hlinkClick r:id="rId4" invalidUrl="" action="" tgtFrame="" tooltip="" history="1" highlightClick="0" endSnd="0"/>
              </a:rPr>
              <a:t>https://sztupy.hu/kekkor-kereso/</a:t>
            </a:r>
          </a:p>
          <a:p>
            <a:pPr/>
            <a:r>
              <a:t>Hungarian-only right now</a:t>
            </a:r>
          </a:p>
        </p:txBody>
      </p:sp>
      <p:pic>
        <p:nvPicPr>
          <p:cNvPr id="245" name="Screenshot 2025-11-15 at 06.59.31.png" descr="Screenshot 2025-11-15 at 06.59.31.png"/>
          <p:cNvPicPr>
            <a:picLocks noChangeAspect="1"/>
          </p:cNvPicPr>
          <p:nvPr/>
        </p:nvPicPr>
        <p:blipFill>
          <a:blip r:embed="rId5">
            <a:extLst/>
          </a:blip>
          <a:stretch>
            <a:fillRect/>
          </a:stretch>
        </p:blipFill>
        <p:spPr>
          <a:xfrm>
            <a:off x="9607366" y="4682969"/>
            <a:ext cx="13128541" cy="813846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Example"/>
          <p:cNvSpPr txBox="1"/>
          <p:nvPr>
            <p:ph type="title"/>
          </p:nvPr>
        </p:nvSpPr>
        <p:spPr>
          <a:prstGeom prst="rect">
            <a:avLst/>
          </a:prstGeom>
        </p:spPr>
        <p:txBody>
          <a:bodyPr/>
          <a:lstStyle/>
          <a:p>
            <a:pPr/>
            <a:r>
              <a:t>Example</a:t>
            </a:r>
          </a:p>
        </p:txBody>
      </p:sp>
      <p:pic>
        <p:nvPicPr>
          <p:cNvPr id="250" name="Screenshot 2025-11-15 at 07.04.17.png" descr="Screenshot 2025-11-15 at 07.04.17.png"/>
          <p:cNvPicPr>
            <a:picLocks noChangeAspect="1"/>
          </p:cNvPicPr>
          <p:nvPr/>
        </p:nvPicPr>
        <p:blipFill>
          <a:blip r:embed="rId3">
            <a:extLst/>
          </a:blip>
          <a:stretch>
            <a:fillRect/>
          </a:stretch>
        </p:blipFill>
        <p:spPr>
          <a:xfrm>
            <a:off x="3418888" y="1910865"/>
            <a:ext cx="18988026" cy="11183229"/>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Future?"/>
          <p:cNvSpPr txBox="1"/>
          <p:nvPr>
            <p:ph type="title"/>
          </p:nvPr>
        </p:nvSpPr>
        <p:spPr>
          <a:prstGeom prst="rect">
            <a:avLst/>
          </a:prstGeom>
        </p:spPr>
        <p:txBody>
          <a:bodyPr/>
          <a:lstStyle/>
          <a:p>
            <a:pPr/>
            <a:r>
              <a:t>Future?</a:t>
            </a:r>
          </a:p>
        </p:txBody>
      </p:sp>
      <p:sp>
        <p:nvSpPr>
          <p:cNvPr id="255" name="Really want to do something similar to Scotland…"/>
          <p:cNvSpPr txBox="1"/>
          <p:nvPr>
            <p:ph type="body" idx="1"/>
          </p:nvPr>
        </p:nvSpPr>
        <p:spPr>
          <a:xfrm>
            <a:off x="1206500" y="2471479"/>
            <a:ext cx="21971000" cy="10033037"/>
          </a:xfrm>
          <a:prstGeom prst="rect">
            <a:avLst/>
          </a:prstGeom>
        </p:spPr>
        <p:txBody>
          <a:bodyPr/>
          <a:lstStyle/>
          <a:p>
            <a:pPr marL="434340" indent="-434340" defTabSz="337820">
              <a:spcBef>
                <a:spcPts val="4400"/>
              </a:spcBef>
              <a:defRPr sz="3800"/>
            </a:pPr>
            <a:r>
              <a:t>Really want to do something similar to Scotland</a:t>
            </a:r>
          </a:p>
          <a:p>
            <a:pPr marL="434340" indent="-434340" defTabSz="337820">
              <a:spcBef>
                <a:spcPts val="4400"/>
              </a:spcBef>
              <a:defRPr sz="3800"/>
            </a:pPr>
            <a:r>
              <a:t>However</a:t>
            </a:r>
          </a:p>
          <a:p>
            <a:pPr lvl="1" marL="868680" indent="-434340" defTabSz="337820">
              <a:spcBef>
                <a:spcPts val="4400"/>
              </a:spcBef>
              <a:defRPr sz="3800"/>
            </a:pPr>
            <a:r>
              <a:t>No good free database of walking routes</a:t>
            </a:r>
          </a:p>
          <a:p>
            <a:pPr lvl="2" marL="1303019" indent="-434340" defTabSz="337820">
              <a:spcBef>
                <a:spcPts val="4400"/>
              </a:spcBef>
              <a:defRPr sz="3800"/>
            </a:pPr>
            <a:r>
              <a:t>WalkHighlands is the biggest source, but their licensing is opaque</a:t>
            </a:r>
          </a:p>
          <a:p>
            <a:pPr lvl="2" marL="1303019" indent="-434340" defTabSz="337820">
              <a:spcBef>
                <a:spcPts val="4400"/>
              </a:spcBef>
              <a:defRPr sz="3800"/>
            </a:pPr>
            <a:r>
              <a:t>They’re quite unfriendly towards people using their data</a:t>
            </a:r>
          </a:p>
          <a:p>
            <a:pPr lvl="1" marL="868680" indent="-434340" defTabSz="337820">
              <a:spcBef>
                <a:spcPts val="4400"/>
              </a:spcBef>
              <a:defRPr sz="3800"/>
            </a:pPr>
            <a:r>
              <a:t>No good database for public transport</a:t>
            </a:r>
          </a:p>
          <a:p>
            <a:pPr lvl="2" marL="1303019" indent="-434340" defTabSz="337820">
              <a:spcBef>
                <a:spcPts val="4400"/>
              </a:spcBef>
              <a:defRPr sz="3800"/>
            </a:pPr>
            <a:r>
              <a:t>Bus Open Data Service is only available for England</a:t>
            </a:r>
          </a:p>
          <a:p>
            <a:pPr lvl="2" marL="1303019" indent="-434340" defTabSz="337820">
              <a:spcBef>
                <a:spcPts val="4400"/>
              </a:spcBef>
              <a:defRPr sz="3800"/>
            </a:pPr>
            <a:r>
              <a:t>While a lot of Scottish bus operators are nevertheless included, especially more local/rural ones are missing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55">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5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25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25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25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25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25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1" fill="hold">
                                  <p:stCondLst>
                                    <p:cond delay="0"/>
                                  </p:stCondLst>
                                  <p:iterate type="el" backwards="0">
                                    <p:tmAbs val="0"/>
                                  </p:iterate>
                                  <p:childTnLst>
                                    <p:set>
                                      <p:cBhvr>
                                        <p:cTn id="32" fill="hold"/>
                                        <p:tgtEl>
                                          <p:spTgt spid="25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0" presetID="1" grpId="1" fill="hold">
                                  <p:stCondLst>
                                    <p:cond delay="0"/>
                                  </p:stCondLst>
                                  <p:iterate type="el" backwards="0">
                                    <p:tmAbs val="0"/>
                                  </p:iterate>
                                  <p:childTnLst>
                                    <p:set>
                                      <p:cBhvr>
                                        <p:cTn id="36" fill="hold"/>
                                        <p:tgtEl>
                                          <p:spTgt spid="255">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55"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Thanks!"/>
          <p:cNvSpPr txBox="1"/>
          <p:nvPr>
            <p:ph type="title"/>
          </p:nvPr>
        </p:nvSpPr>
        <p:spPr>
          <a:prstGeom prst="rect">
            <a:avLst/>
          </a:prstGeom>
        </p:spPr>
        <p:txBody>
          <a:bodyPr/>
          <a:lstStyle/>
          <a:p>
            <a:pPr/>
            <a:r>
              <a:t>Thanks!</a:t>
            </a:r>
          </a:p>
        </p:txBody>
      </p:sp>
      <p:sp>
        <p:nvSpPr>
          <p:cNvPr id="260" name="Source code and description (English):  https://github.com/sztupy/kekkor-kereso/…"/>
          <p:cNvSpPr txBox="1"/>
          <p:nvPr>
            <p:ph type="body" idx="1"/>
          </p:nvPr>
        </p:nvSpPr>
        <p:spPr>
          <a:xfrm>
            <a:off x="1206500" y="2483371"/>
            <a:ext cx="21971000" cy="10021145"/>
          </a:xfrm>
          <a:prstGeom prst="rect">
            <a:avLst/>
          </a:prstGeom>
        </p:spPr>
        <p:txBody>
          <a:bodyPr/>
          <a:lstStyle/>
          <a:p>
            <a:pPr/>
            <a:r>
              <a:t>Source code and description (English):  </a:t>
            </a:r>
            <a:r>
              <a:rPr u="sng">
                <a:hlinkClick r:id="rId3" invalidUrl="" action="" tgtFrame="" tooltip="" history="1" highlightClick="0" endSnd="0"/>
              </a:rPr>
              <a:t>https://github.com/sztupy/kekkor-kereso/</a:t>
            </a:r>
          </a:p>
          <a:p>
            <a:pPr/>
            <a:r>
              <a:t>Project Website (Hungarian): </a:t>
            </a:r>
            <a:r>
              <a:rPr u="sng">
                <a:hlinkClick r:id="rId4" invalidUrl="" action="" tgtFrame="" tooltip="" history="1" highlightClick="0" endSnd="0"/>
              </a:rPr>
              <a:t>https://sztupy.hu/kekkor-kereso/</a:t>
            </a:r>
          </a:p>
          <a:p>
            <a:pPr/>
            <a:r>
              <a:t>Contacts</a:t>
            </a:r>
          </a:p>
          <a:p>
            <a:pPr lvl="1"/>
            <a:r>
              <a:t>My other projects: </a:t>
            </a:r>
            <a:r>
              <a:rPr u="sng">
                <a:hlinkClick r:id="rId5" invalidUrl="" action="" tgtFrame="" tooltip="" history="1" highlightClick="0" endSnd="0"/>
              </a:rPr>
              <a:t>https://sztupy.hu/projects</a:t>
            </a:r>
          </a:p>
          <a:p>
            <a:pPr lvl="1"/>
            <a:r>
              <a:t>Fediverse / Mastodon: @sztupy@social.sztupy.hu</a:t>
            </a:r>
          </a:p>
          <a:p>
            <a:pPr lvl="1"/>
            <a:r>
              <a:t>Bluesky: @sztupy.bsky.sztupy.hu</a:t>
            </a:r>
          </a:p>
          <a:p>
            <a:pPr lvl="1"/>
            <a:r>
              <a:t>Tumblr: </a:t>
            </a:r>
            <a:r>
              <a:rPr u="sng">
                <a:hlinkClick r:id="rId6" invalidUrl="" action="" tgtFrame="" tooltip="" history="1" highlightClick="0" endSnd="0"/>
              </a:rPr>
              <a:t>https://tumblr.sztupy.hu/</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Thanks!"/>
          <p:cNvSpPr txBox="1"/>
          <p:nvPr>
            <p:ph type="title"/>
          </p:nvPr>
        </p:nvSpPr>
        <p:spPr>
          <a:prstGeom prst="rect">
            <a:avLst/>
          </a:prstGeom>
        </p:spPr>
        <p:txBody>
          <a:bodyPr/>
          <a:lstStyle/>
          <a:p>
            <a:pPr/>
            <a:r>
              <a:t>Thanks!</a:t>
            </a:r>
          </a:p>
        </p:txBody>
      </p:sp>
      <p:sp>
        <p:nvSpPr>
          <p:cNvPr id="265" name="Source code and description (English):  https://github.com/sztupy/kekkor-kereso/…"/>
          <p:cNvSpPr txBox="1"/>
          <p:nvPr>
            <p:ph type="body" idx="1"/>
          </p:nvPr>
        </p:nvSpPr>
        <p:spPr>
          <a:xfrm>
            <a:off x="1206500" y="2483371"/>
            <a:ext cx="21971000" cy="10021145"/>
          </a:xfrm>
          <a:prstGeom prst="rect">
            <a:avLst/>
          </a:prstGeom>
        </p:spPr>
        <p:txBody>
          <a:bodyPr/>
          <a:lstStyle/>
          <a:p>
            <a:pPr/>
            <a:r>
              <a:t>Source code and description (English):  </a:t>
            </a:r>
            <a:r>
              <a:rPr u="sng">
                <a:hlinkClick r:id="rId3" invalidUrl="" action="" tgtFrame="" tooltip="" history="1" highlightClick="0" endSnd="0"/>
              </a:rPr>
              <a:t>https://github.com/sztupy/kekkor-kereso/</a:t>
            </a:r>
          </a:p>
          <a:p>
            <a:pPr/>
            <a:r>
              <a:t>Project Website (Hungarian): </a:t>
            </a:r>
            <a:r>
              <a:rPr u="sng">
                <a:hlinkClick r:id="rId4" invalidUrl="" action="" tgtFrame="" tooltip="" history="1" highlightClick="0" endSnd="0"/>
              </a:rPr>
              <a:t>https://sztupy.hu/kekkor-kereso/</a:t>
            </a:r>
          </a:p>
          <a:p>
            <a:pPr/>
            <a:r>
              <a:t>Contacts</a:t>
            </a:r>
          </a:p>
          <a:p>
            <a:pPr lvl="1"/>
            <a:r>
              <a:t>My other projects: </a:t>
            </a:r>
            <a:r>
              <a:rPr u="sng">
                <a:hlinkClick r:id="rId5" invalidUrl="" action="" tgtFrame="" tooltip="" history="1" highlightClick="0" endSnd="0"/>
              </a:rPr>
              <a:t>https://sztupy.hu/projects</a:t>
            </a:r>
          </a:p>
          <a:p>
            <a:pPr lvl="1"/>
            <a:r>
              <a:t>Fediverse / Mastodon: @sztupy@social.sztupy.hu</a:t>
            </a:r>
          </a:p>
          <a:p>
            <a:pPr lvl="1"/>
            <a:r>
              <a:t>Bluesky: @sztupy.bsky.sztupy.hu</a:t>
            </a:r>
          </a:p>
          <a:p>
            <a:pPr lvl="1"/>
            <a:r>
              <a:t>Tumblr: </a:t>
            </a:r>
            <a:r>
              <a:rPr u="sng">
                <a:hlinkClick r:id="rId6" invalidUrl="" action="" tgtFrame="" tooltip="" history="1" highlightClick="0" endSnd="0"/>
              </a:rPr>
              <a:t>https://tumblr.sztupy.hu/</a:t>
            </a:r>
          </a:p>
        </p:txBody>
      </p:sp>
      <p:pic>
        <p:nvPicPr>
          <p:cNvPr id="266" name="Screenshot 2025-11-15 at 07.16.17.png" descr="Screenshot 2025-11-15 at 07.16.17.png"/>
          <p:cNvPicPr>
            <a:picLocks noChangeAspect="1"/>
          </p:cNvPicPr>
          <p:nvPr/>
        </p:nvPicPr>
        <p:blipFill>
          <a:blip r:embed="rId7">
            <a:extLst/>
          </a:blip>
          <a:stretch>
            <a:fillRect/>
          </a:stretch>
        </p:blipFill>
        <p:spPr>
          <a:xfrm>
            <a:off x="16753215" y="5395776"/>
            <a:ext cx="4043205" cy="7475925"/>
          </a:xfrm>
          <a:prstGeom prst="rect">
            <a:avLst/>
          </a:prstGeom>
          <a:ln w="12700">
            <a:miter lim="400000"/>
          </a:ln>
        </p:spPr>
      </p:pic>
      <p:sp>
        <p:nvSpPr>
          <p:cNvPr id="267" name="Line"/>
          <p:cNvSpPr/>
          <p:nvPr/>
        </p:nvSpPr>
        <p:spPr>
          <a:xfrm flipH="1">
            <a:off x="18266137" y="5173894"/>
            <a:ext cx="469394" cy="1844015"/>
          </a:xfrm>
          <a:prstGeom prst="line">
            <a:avLst/>
          </a:prstGeom>
          <a:ln w="127000">
            <a:solidFill>
              <a:schemeClr val="accent1">
                <a:satOff val="-9155"/>
                <a:lumOff val="-32673"/>
              </a:schemeClr>
            </a:solidFill>
            <a:miter lim="400000"/>
            <a:tailEnd type="triangle"/>
          </a:ln>
        </p:spPr>
        <p:txBody>
          <a:bodyPr lIns="50800" tIns="50800" rIns="50800" bIns="50800" anchor="ctr"/>
          <a:lstStyle/>
          <a:p>
            <a:pPr/>
          </a:p>
        </p:txBody>
      </p:sp>
      <p:sp>
        <p:nvSpPr>
          <p:cNvPr id="268" name="The place in Britain furthest away from the closest pub"/>
          <p:cNvSpPr txBox="1"/>
          <p:nvPr/>
        </p:nvSpPr>
        <p:spPr>
          <a:xfrm>
            <a:off x="17695935" y="4386539"/>
            <a:ext cx="4600949" cy="787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000"/>
            </a:lvl1pPr>
          </a:lstStyle>
          <a:p>
            <a:pPr/>
            <a:r>
              <a:t>The place in Britain furthest away from the closest pub</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8_MinimalistLight">
  <a:themeElements>
    <a:clrScheme name="38_MinimalistLight">
      <a:dk1>
        <a:srgbClr val="53585F"/>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8_MinimalistLight">
  <a:themeElements>
    <a:clrScheme name="38_Minimalist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